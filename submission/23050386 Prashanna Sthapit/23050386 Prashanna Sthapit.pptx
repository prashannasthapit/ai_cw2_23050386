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75" r:id="rId10"/>
    <p:sldId id="273" r:id="rId11"/>
    <p:sldId id="264" r:id="rId12"/>
    <p:sldId id="265" r:id="rId13"/>
    <p:sldId id="268" r:id="rId14"/>
    <p:sldId id="269" r:id="rId15"/>
    <p:sldId id="270" r:id="rId16"/>
    <p:sldId id="272"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DCAB7D-1686-8445-8D96-EF1E45E07FC8}" v="40" dt="2026-01-20T04:56:41.4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719"/>
  </p:normalViewPr>
  <p:slideViewPr>
    <p:cSldViewPr snapToGrid="0">
      <p:cViewPr>
        <p:scale>
          <a:sx n="108" d="100"/>
          <a:sy n="108" d="100"/>
        </p:scale>
        <p:origin x="640" y="4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shanna Sthapit" userId="18dd727c-5fdc-4446-bac3-b9c9d3c16b0b" providerId="ADAL" clId="{CE995B0A-844F-510E-B458-E221A8A0EB2A}"/>
    <pc:docChg chg="undo redo custSel addSld delSld modSld">
      <pc:chgData name="Prashanna Sthapit" userId="18dd727c-5fdc-4446-bac3-b9c9d3c16b0b" providerId="ADAL" clId="{CE995B0A-844F-510E-B458-E221A8A0EB2A}" dt="2026-01-20T04:56:47.651" v="438"/>
      <pc:docMkLst>
        <pc:docMk/>
      </pc:docMkLst>
      <pc:sldChg chg="modSp mod">
        <pc:chgData name="Prashanna Sthapit" userId="18dd727c-5fdc-4446-bac3-b9c9d3c16b0b" providerId="ADAL" clId="{CE995B0A-844F-510E-B458-E221A8A0EB2A}" dt="2026-01-20T04:45:36.873" v="429" actId="12"/>
        <pc:sldMkLst>
          <pc:docMk/>
          <pc:sldMk cId="109907463" sldId="259"/>
        </pc:sldMkLst>
        <pc:spChg chg="mod">
          <ac:chgData name="Prashanna Sthapit" userId="18dd727c-5fdc-4446-bac3-b9c9d3c16b0b" providerId="ADAL" clId="{CE995B0A-844F-510E-B458-E221A8A0EB2A}" dt="2026-01-20T04:45:36.873" v="429" actId="12"/>
          <ac:spMkLst>
            <pc:docMk/>
            <pc:sldMk cId="109907463" sldId="259"/>
            <ac:spMk id="3" creationId="{35859200-00D9-C9AF-200A-144AD62B64D4}"/>
          </ac:spMkLst>
        </pc:spChg>
      </pc:sldChg>
      <pc:sldChg chg="addSp delSp modSp mod">
        <pc:chgData name="Prashanna Sthapit" userId="18dd727c-5fdc-4446-bac3-b9c9d3c16b0b" providerId="ADAL" clId="{CE995B0A-844F-510E-B458-E221A8A0EB2A}" dt="2026-01-20T04:39:42.035" v="286"/>
        <pc:sldMkLst>
          <pc:docMk/>
          <pc:sldMk cId="2240116583" sldId="260"/>
        </pc:sldMkLst>
        <pc:spChg chg="add del mod">
          <ac:chgData name="Prashanna Sthapit" userId="18dd727c-5fdc-4446-bac3-b9c9d3c16b0b" providerId="ADAL" clId="{CE995B0A-844F-510E-B458-E221A8A0EB2A}" dt="2026-01-20T04:39:42.035" v="286"/>
          <ac:spMkLst>
            <pc:docMk/>
            <pc:sldMk cId="2240116583" sldId="260"/>
            <ac:spMk id="3" creationId="{A560D689-446C-9D2F-1161-E84639246AB8}"/>
          </ac:spMkLst>
        </pc:spChg>
        <pc:spChg chg="add mod">
          <ac:chgData name="Prashanna Sthapit" userId="18dd727c-5fdc-4446-bac3-b9c9d3c16b0b" providerId="ADAL" clId="{CE995B0A-844F-510E-B458-E221A8A0EB2A}" dt="2026-01-20T04:38:21.888" v="241"/>
          <ac:spMkLst>
            <pc:docMk/>
            <pc:sldMk cId="2240116583" sldId="260"/>
            <ac:spMk id="4" creationId="{3D7DB114-6E78-8177-F579-C6B397E60F1D}"/>
          </ac:spMkLst>
        </pc:spChg>
        <pc:spChg chg="add mod">
          <ac:chgData name="Prashanna Sthapit" userId="18dd727c-5fdc-4446-bac3-b9c9d3c16b0b" providerId="ADAL" clId="{CE995B0A-844F-510E-B458-E221A8A0EB2A}" dt="2026-01-20T04:38:23.157" v="243"/>
          <ac:spMkLst>
            <pc:docMk/>
            <pc:sldMk cId="2240116583" sldId="260"/>
            <ac:spMk id="5" creationId="{75A898D4-E86E-4B74-55C3-7D2ABADD0C2D}"/>
          </ac:spMkLst>
        </pc:spChg>
        <pc:spChg chg="add mod">
          <ac:chgData name="Prashanna Sthapit" userId="18dd727c-5fdc-4446-bac3-b9c9d3c16b0b" providerId="ADAL" clId="{CE995B0A-844F-510E-B458-E221A8A0EB2A}" dt="2026-01-20T04:38:32.103" v="245"/>
          <ac:spMkLst>
            <pc:docMk/>
            <pc:sldMk cId="2240116583" sldId="260"/>
            <ac:spMk id="6" creationId="{905574FB-3A89-D232-7859-62E6CD6F2359}"/>
          </ac:spMkLst>
        </pc:spChg>
        <pc:spChg chg="add mod">
          <ac:chgData name="Prashanna Sthapit" userId="18dd727c-5fdc-4446-bac3-b9c9d3c16b0b" providerId="ADAL" clId="{CE995B0A-844F-510E-B458-E221A8A0EB2A}" dt="2026-01-20T04:39:42.035" v="286"/>
          <ac:spMkLst>
            <pc:docMk/>
            <pc:sldMk cId="2240116583" sldId="260"/>
            <ac:spMk id="7" creationId="{0463A577-2B64-9181-234C-60F768D19BC9}"/>
          </ac:spMkLst>
        </pc:spChg>
      </pc:sldChg>
      <pc:sldChg chg="addSp delSp modSp mod">
        <pc:chgData name="Prashanna Sthapit" userId="18dd727c-5fdc-4446-bac3-b9c9d3c16b0b" providerId="ADAL" clId="{CE995B0A-844F-510E-B458-E221A8A0EB2A}" dt="2026-01-20T04:42:35.675" v="316" actId="11"/>
        <pc:sldMkLst>
          <pc:docMk/>
          <pc:sldMk cId="1335898026" sldId="261"/>
        </pc:sldMkLst>
        <pc:spChg chg="add del mod">
          <ac:chgData name="Prashanna Sthapit" userId="18dd727c-5fdc-4446-bac3-b9c9d3c16b0b" providerId="ADAL" clId="{CE995B0A-844F-510E-B458-E221A8A0EB2A}" dt="2026-01-20T04:42:35.675" v="316" actId="11"/>
          <ac:spMkLst>
            <pc:docMk/>
            <pc:sldMk cId="1335898026" sldId="261"/>
            <ac:spMk id="3" creationId="{4F65B199-02A5-835B-48B7-843A13B08EE0}"/>
          </ac:spMkLst>
        </pc:spChg>
        <pc:spChg chg="add mod">
          <ac:chgData name="Prashanna Sthapit" userId="18dd727c-5fdc-4446-bac3-b9c9d3c16b0b" providerId="ADAL" clId="{CE995B0A-844F-510E-B458-E221A8A0EB2A}" dt="2026-01-20T04:40:19.071" v="290"/>
          <ac:spMkLst>
            <pc:docMk/>
            <pc:sldMk cId="1335898026" sldId="261"/>
            <ac:spMk id="4" creationId="{6AC7E2BF-9E35-4612-7E77-D2B4DD4F3603}"/>
          </ac:spMkLst>
        </pc:spChg>
      </pc:sldChg>
      <pc:sldChg chg="addSp delSp modSp mod setBg">
        <pc:chgData name="Prashanna Sthapit" userId="18dd727c-5fdc-4446-bac3-b9c9d3c16b0b" providerId="ADAL" clId="{CE995B0A-844F-510E-B458-E221A8A0EB2A}" dt="2026-01-20T04:43:05.238" v="340" actId="12"/>
        <pc:sldMkLst>
          <pc:docMk/>
          <pc:sldMk cId="3577141003" sldId="262"/>
        </pc:sldMkLst>
        <pc:spChg chg="mod">
          <ac:chgData name="Prashanna Sthapit" userId="18dd727c-5fdc-4446-bac3-b9c9d3c16b0b" providerId="ADAL" clId="{CE995B0A-844F-510E-B458-E221A8A0EB2A}" dt="2026-01-18T03:31:39.016" v="164" actId="26606"/>
          <ac:spMkLst>
            <pc:docMk/>
            <pc:sldMk cId="3577141003" sldId="262"/>
            <ac:spMk id="2" creationId="{B0F7CEE6-2D33-B30B-EC6E-E370E3837CC7}"/>
          </ac:spMkLst>
        </pc:spChg>
        <pc:spChg chg="add del mod">
          <ac:chgData name="Prashanna Sthapit" userId="18dd727c-5fdc-4446-bac3-b9c9d3c16b0b" providerId="ADAL" clId="{CE995B0A-844F-510E-B458-E221A8A0EB2A}" dt="2026-01-20T04:43:05.238" v="340" actId="12"/>
          <ac:spMkLst>
            <pc:docMk/>
            <pc:sldMk cId="3577141003" sldId="262"/>
            <ac:spMk id="3" creationId="{AE49F2F1-A827-C235-BC2B-C463783ED13D}"/>
          </ac:spMkLst>
        </pc:spChg>
        <pc:spChg chg="add mod">
          <ac:chgData name="Prashanna Sthapit" userId="18dd727c-5fdc-4446-bac3-b9c9d3c16b0b" providerId="ADAL" clId="{CE995B0A-844F-510E-B458-E221A8A0EB2A}" dt="2026-01-20T04:42:50.354" v="318"/>
          <ac:spMkLst>
            <pc:docMk/>
            <pc:sldMk cId="3577141003" sldId="262"/>
            <ac:spMk id="12" creationId="{C68DC86C-7815-43B4-4C41-A731E59C82DE}"/>
          </ac:spMkLst>
        </pc:spChg>
      </pc:sldChg>
      <pc:sldChg chg="addSp delSp modSp mod setBg">
        <pc:chgData name="Prashanna Sthapit" userId="18dd727c-5fdc-4446-bac3-b9c9d3c16b0b" providerId="ADAL" clId="{CE995B0A-844F-510E-B458-E221A8A0EB2A}" dt="2026-01-20T04:43:57.618" v="365" actId="12"/>
        <pc:sldMkLst>
          <pc:docMk/>
          <pc:sldMk cId="4142636271" sldId="263"/>
        </pc:sldMkLst>
        <pc:spChg chg="mod">
          <ac:chgData name="Prashanna Sthapit" userId="18dd727c-5fdc-4446-bac3-b9c9d3c16b0b" providerId="ADAL" clId="{CE995B0A-844F-510E-B458-E221A8A0EB2A}" dt="2026-01-18T03:32:27.024" v="183" actId="26606"/>
          <ac:spMkLst>
            <pc:docMk/>
            <pc:sldMk cId="4142636271" sldId="263"/>
            <ac:spMk id="2" creationId="{E3C7602D-280F-1D7A-AF33-1EBF81769A2A}"/>
          </ac:spMkLst>
        </pc:spChg>
        <pc:spChg chg="add del mod">
          <ac:chgData name="Prashanna Sthapit" userId="18dd727c-5fdc-4446-bac3-b9c9d3c16b0b" providerId="ADAL" clId="{CE995B0A-844F-510E-B458-E221A8A0EB2A}" dt="2026-01-20T04:43:57.618" v="365" actId="12"/>
          <ac:spMkLst>
            <pc:docMk/>
            <pc:sldMk cId="4142636271" sldId="263"/>
            <ac:spMk id="13" creationId="{2ACAAF83-DA5C-8544-19CB-57C6D1A58CDD}"/>
          </ac:spMkLst>
        </pc:spChg>
        <pc:picChg chg="add del mod ord">
          <ac:chgData name="Prashanna Sthapit" userId="18dd727c-5fdc-4446-bac3-b9c9d3c16b0b" providerId="ADAL" clId="{CE995B0A-844F-510E-B458-E221A8A0EB2A}" dt="2026-01-20T04:43:22.311" v="342" actId="478"/>
          <ac:picMkLst>
            <pc:docMk/>
            <pc:sldMk cId="4142636271" sldId="263"/>
            <ac:picMk id="5" creationId="{A7366379-B5AA-94A6-948D-EDEDD4BDC87D}"/>
          </ac:picMkLst>
        </pc:picChg>
        <pc:picChg chg="add del mod ord">
          <ac:chgData name="Prashanna Sthapit" userId="18dd727c-5fdc-4446-bac3-b9c9d3c16b0b" providerId="ADAL" clId="{CE995B0A-844F-510E-B458-E221A8A0EB2A}" dt="2026-01-20T04:43:38.769" v="347" actId="478"/>
          <ac:picMkLst>
            <pc:docMk/>
            <pc:sldMk cId="4142636271" sldId="263"/>
            <ac:picMk id="7" creationId="{0263998C-618B-A873-1EE8-5246CF46FFEB}"/>
          </ac:picMkLst>
        </pc:picChg>
        <pc:picChg chg="add del mod ord">
          <ac:chgData name="Prashanna Sthapit" userId="18dd727c-5fdc-4446-bac3-b9c9d3c16b0b" providerId="ADAL" clId="{CE995B0A-844F-510E-B458-E221A8A0EB2A}" dt="2026-01-20T04:43:31.797" v="345" actId="478"/>
          <ac:picMkLst>
            <pc:docMk/>
            <pc:sldMk cId="4142636271" sldId="263"/>
            <ac:picMk id="9" creationId="{C05D4B8E-F314-9681-2F89-F2069FF865CA}"/>
          </ac:picMkLst>
        </pc:picChg>
        <pc:picChg chg="add del mod ord">
          <ac:chgData name="Prashanna Sthapit" userId="18dd727c-5fdc-4446-bac3-b9c9d3c16b0b" providerId="ADAL" clId="{CE995B0A-844F-510E-B458-E221A8A0EB2A}" dt="2026-01-20T04:43:28.074" v="344" actId="34307"/>
          <ac:picMkLst>
            <pc:docMk/>
            <pc:sldMk cId="4142636271" sldId="263"/>
            <ac:picMk id="14" creationId="{05E9589C-395C-20A6-86F0-3DDC391F4917}"/>
          </ac:picMkLst>
        </pc:picChg>
      </pc:sldChg>
      <pc:sldChg chg="addSp modSp mod">
        <pc:chgData name="Prashanna Sthapit" userId="18dd727c-5fdc-4446-bac3-b9c9d3c16b0b" providerId="ADAL" clId="{CE995B0A-844F-510E-B458-E221A8A0EB2A}" dt="2026-01-20T04:44:34.312" v="386" actId="12"/>
        <pc:sldMkLst>
          <pc:docMk/>
          <pc:sldMk cId="1164969530" sldId="264"/>
        </pc:sldMkLst>
        <pc:spChg chg="mod">
          <ac:chgData name="Prashanna Sthapit" userId="18dd727c-5fdc-4446-bac3-b9c9d3c16b0b" providerId="ADAL" clId="{CE995B0A-844F-510E-B458-E221A8A0EB2A}" dt="2026-01-20T04:44:34.312" v="386" actId="12"/>
          <ac:spMkLst>
            <pc:docMk/>
            <pc:sldMk cId="1164969530" sldId="264"/>
            <ac:spMk id="3" creationId="{E405EEE1-F4D7-4A2D-B8FC-748F2893C8DE}"/>
          </ac:spMkLst>
        </pc:spChg>
        <pc:spChg chg="add">
          <ac:chgData name="Prashanna Sthapit" userId="18dd727c-5fdc-4446-bac3-b9c9d3c16b0b" providerId="ADAL" clId="{CE995B0A-844F-510E-B458-E221A8A0EB2A}" dt="2026-01-20T04:44:11.733" v="367"/>
          <ac:spMkLst>
            <pc:docMk/>
            <pc:sldMk cId="1164969530" sldId="264"/>
            <ac:spMk id="4" creationId="{8EDA237A-A152-DF7E-359B-78D125FC72D1}"/>
          </ac:spMkLst>
        </pc:spChg>
      </pc:sldChg>
      <pc:sldChg chg="addSp modSp mod">
        <pc:chgData name="Prashanna Sthapit" userId="18dd727c-5fdc-4446-bac3-b9c9d3c16b0b" providerId="ADAL" clId="{CE995B0A-844F-510E-B458-E221A8A0EB2A}" dt="2026-01-20T04:56:45.500" v="436" actId="21"/>
        <pc:sldMkLst>
          <pc:docMk/>
          <pc:sldMk cId="2658148262" sldId="265"/>
        </pc:sldMkLst>
        <pc:spChg chg="mod">
          <ac:chgData name="Prashanna Sthapit" userId="18dd727c-5fdc-4446-bac3-b9c9d3c16b0b" providerId="ADAL" clId="{CE995B0A-844F-510E-B458-E221A8A0EB2A}" dt="2026-01-20T04:56:45.500" v="436" actId="21"/>
          <ac:spMkLst>
            <pc:docMk/>
            <pc:sldMk cId="2658148262" sldId="265"/>
            <ac:spMk id="3" creationId="{9096BBE9-4968-B560-9569-36A2DFBF57BF}"/>
          </ac:spMkLst>
        </pc:spChg>
        <pc:spChg chg="add">
          <ac:chgData name="Prashanna Sthapit" userId="18dd727c-5fdc-4446-bac3-b9c9d3c16b0b" providerId="ADAL" clId="{CE995B0A-844F-510E-B458-E221A8A0EB2A}" dt="2026-01-20T04:44:46.319" v="388"/>
          <ac:spMkLst>
            <pc:docMk/>
            <pc:sldMk cId="2658148262" sldId="265"/>
            <ac:spMk id="4" creationId="{ACEFE3D9-969D-D2B5-1A90-C30B69142167}"/>
          </ac:spMkLst>
        </pc:spChg>
      </pc:sldChg>
      <pc:sldChg chg="addSp modSp mod">
        <pc:chgData name="Prashanna Sthapit" userId="18dd727c-5fdc-4446-bac3-b9c9d3c16b0b" providerId="ADAL" clId="{CE995B0A-844F-510E-B458-E221A8A0EB2A}" dt="2026-01-20T04:56:31.287" v="434" actId="20577"/>
        <pc:sldMkLst>
          <pc:docMk/>
          <pc:sldMk cId="2657064607" sldId="268"/>
        </pc:sldMkLst>
        <pc:spChg chg="add mod">
          <ac:chgData name="Prashanna Sthapit" userId="18dd727c-5fdc-4446-bac3-b9c9d3c16b0b" providerId="ADAL" clId="{CE995B0A-844F-510E-B458-E221A8A0EB2A}" dt="2026-01-20T04:56:31.287" v="434" actId="20577"/>
          <ac:spMkLst>
            <pc:docMk/>
            <pc:sldMk cId="2657064607" sldId="268"/>
            <ac:spMk id="6" creationId="{29A0368D-760D-3989-A5DF-BA8543C8DAEA}"/>
          </ac:spMkLst>
        </pc:spChg>
      </pc:sldChg>
      <pc:sldChg chg="addSp delSp modSp mod">
        <pc:chgData name="Prashanna Sthapit" userId="18dd727c-5fdc-4446-bac3-b9c9d3c16b0b" providerId="ADAL" clId="{CE995B0A-844F-510E-B458-E221A8A0EB2A}" dt="2026-01-20T04:56:47.651" v="438"/>
        <pc:sldMkLst>
          <pc:docMk/>
          <pc:sldMk cId="3951829353" sldId="269"/>
        </pc:sldMkLst>
        <pc:spChg chg="add del mod">
          <ac:chgData name="Prashanna Sthapit" userId="18dd727c-5fdc-4446-bac3-b9c9d3c16b0b" providerId="ADAL" clId="{CE995B0A-844F-510E-B458-E221A8A0EB2A}" dt="2026-01-20T04:56:47.651" v="438"/>
          <ac:spMkLst>
            <pc:docMk/>
            <pc:sldMk cId="3951829353" sldId="269"/>
            <ac:spMk id="6" creationId="{8E4B6F1C-AA2D-2F56-5D34-0B8D4B1FBA08}"/>
          </ac:spMkLst>
        </pc:spChg>
      </pc:sldChg>
      <pc:sldChg chg="addSp modSp new mod">
        <pc:chgData name="Prashanna Sthapit" userId="18dd727c-5fdc-4446-bac3-b9c9d3c16b0b" providerId="ADAL" clId="{CE995B0A-844F-510E-B458-E221A8A0EB2A}" dt="2026-01-18T03:33:32.261" v="212" actId="1076"/>
        <pc:sldMkLst>
          <pc:docMk/>
          <pc:sldMk cId="2177772047" sldId="273"/>
        </pc:sldMkLst>
        <pc:picChg chg="add mod">
          <ac:chgData name="Prashanna Sthapit" userId="18dd727c-5fdc-4446-bac3-b9c9d3c16b0b" providerId="ADAL" clId="{CE995B0A-844F-510E-B458-E221A8A0EB2A}" dt="2026-01-18T03:33:32.261" v="212" actId="1076"/>
          <ac:picMkLst>
            <pc:docMk/>
            <pc:sldMk cId="2177772047" sldId="273"/>
            <ac:picMk id="2" creationId="{3E640AD8-F9F2-DDDB-B636-E47117842AD4}"/>
          </ac:picMkLst>
        </pc:picChg>
      </pc:sldChg>
      <pc:sldChg chg="modSp new mod">
        <pc:chgData name="Prashanna Sthapit" userId="18dd727c-5fdc-4446-bac3-b9c9d3c16b0b" providerId="ADAL" clId="{CE995B0A-844F-510E-B458-E221A8A0EB2A}" dt="2026-01-20T04:39:30.191" v="281" actId="20577"/>
        <pc:sldMkLst>
          <pc:docMk/>
          <pc:sldMk cId="1598805665" sldId="274"/>
        </pc:sldMkLst>
        <pc:spChg chg="mod">
          <ac:chgData name="Prashanna Sthapit" userId="18dd727c-5fdc-4446-bac3-b9c9d3c16b0b" providerId="ADAL" clId="{CE995B0A-844F-510E-B458-E221A8A0EB2A}" dt="2026-01-18T03:36:20.652" v="235" actId="20577"/>
          <ac:spMkLst>
            <pc:docMk/>
            <pc:sldMk cId="1598805665" sldId="274"/>
            <ac:spMk id="2" creationId="{12543028-5552-8EE2-394B-50DFEBFDDE8E}"/>
          </ac:spMkLst>
        </pc:spChg>
        <pc:spChg chg="mod">
          <ac:chgData name="Prashanna Sthapit" userId="18dd727c-5fdc-4446-bac3-b9c9d3c16b0b" providerId="ADAL" clId="{CE995B0A-844F-510E-B458-E221A8A0EB2A}" dt="2026-01-20T04:39:30.191" v="281" actId="20577"/>
          <ac:spMkLst>
            <pc:docMk/>
            <pc:sldMk cId="1598805665" sldId="274"/>
            <ac:spMk id="3" creationId="{1CD60488-9277-868C-3287-2837DDD301DF}"/>
          </ac:spMkLst>
        </pc:spChg>
      </pc:sldChg>
      <pc:sldChg chg="add">
        <pc:chgData name="Prashanna Sthapit" userId="18dd727c-5fdc-4446-bac3-b9c9d3c16b0b" providerId="ADAL" clId="{CE995B0A-844F-510E-B458-E221A8A0EB2A}" dt="2026-01-20T04:43:20.221" v="341" actId="2890"/>
        <pc:sldMkLst>
          <pc:docMk/>
          <pc:sldMk cId="1730704091" sldId="27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1/18/26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1/18/26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1/18/26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1/18/26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1/18/26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1/18/26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1/18/26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1/18/26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1/18/26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1/18/26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1/18/26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1/18/26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20.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0EE9E-4AA5-9D09-9DB0-F1CDE177E4CE}"/>
              </a:ext>
            </a:extLst>
          </p:cNvPr>
          <p:cNvSpPr>
            <a:spLocks noGrp="1"/>
          </p:cNvSpPr>
          <p:nvPr>
            <p:ph type="ctrTitle"/>
          </p:nvPr>
        </p:nvSpPr>
        <p:spPr/>
        <p:txBody>
          <a:bodyPr/>
          <a:lstStyle/>
          <a:p>
            <a:r>
              <a:rPr lang="en-US" dirty="0"/>
              <a:t>AI Coursework 2</a:t>
            </a:r>
          </a:p>
        </p:txBody>
      </p:sp>
      <p:sp>
        <p:nvSpPr>
          <p:cNvPr id="3" name="Subtitle 2">
            <a:extLst>
              <a:ext uri="{FF2B5EF4-FFF2-40B4-BE49-F238E27FC236}">
                <a16:creationId xmlns:a16="http://schemas.microsoft.com/office/drawing/2014/main" id="{EDFD8EB5-064C-FD39-D4FC-1673960F5363}"/>
              </a:ext>
            </a:extLst>
          </p:cNvPr>
          <p:cNvSpPr>
            <a:spLocks noGrp="1"/>
          </p:cNvSpPr>
          <p:nvPr>
            <p:ph type="subTitle" idx="1"/>
          </p:nvPr>
        </p:nvSpPr>
        <p:spPr/>
        <p:txBody>
          <a:bodyPr/>
          <a:lstStyle/>
          <a:p>
            <a:r>
              <a:rPr lang="en-US" dirty="0"/>
              <a:t>23050386 </a:t>
            </a:r>
          </a:p>
          <a:p>
            <a:r>
              <a:rPr lang="en-US" dirty="0"/>
              <a:t>NP01CP4A230194</a:t>
            </a:r>
          </a:p>
          <a:p>
            <a:r>
              <a:rPr lang="en-US" dirty="0"/>
              <a:t>C8</a:t>
            </a:r>
          </a:p>
          <a:p>
            <a:r>
              <a:rPr lang="en-US" dirty="0"/>
              <a:t>Prashanna Sthapit</a:t>
            </a:r>
          </a:p>
        </p:txBody>
      </p:sp>
    </p:spTree>
    <p:extLst>
      <p:ext uri="{BB962C8B-B14F-4D97-AF65-F5344CB8AC3E}">
        <p14:creationId xmlns:p14="http://schemas.microsoft.com/office/powerpoint/2010/main" val="155438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DE655-67A5-E919-4002-572975FFC862}"/>
              </a:ext>
            </a:extLst>
          </p:cNvPr>
          <p:cNvSpPr>
            <a:spLocks noGrp="1"/>
          </p:cNvSpPr>
          <p:nvPr>
            <p:ph type="title"/>
          </p:nvPr>
        </p:nvSpPr>
        <p:spPr/>
        <p:txBody>
          <a:bodyPr/>
          <a:lstStyle/>
          <a:p>
            <a:r>
              <a:rPr lang="en-US" dirty="0"/>
              <a:t>Topic</a:t>
            </a:r>
          </a:p>
        </p:txBody>
      </p:sp>
      <p:sp>
        <p:nvSpPr>
          <p:cNvPr id="3" name="Content Placeholder 2">
            <a:extLst>
              <a:ext uri="{FF2B5EF4-FFF2-40B4-BE49-F238E27FC236}">
                <a16:creationId xmlns:a16="http://schemas.microsoft.com/office/drawing/2014/main" id="{E4DEA7A0-37CC-A97A-7747-9415216D6FFB}"/>
              </a:ext>
            </a:extLst>
          </p:cNvPr>
          <p:cNvSpPr>
            <a:spLocks noGrp="1"/>
          </p:cNvSpPr>
          <p:nvPr>
            <p:ph idx="1"/>
          </p:nvPr>
        </p:nvSpPr>
        <p:spPr/>
        <p:txBody>
          <a:bodyPr/>
          <a:lstStyle/>
          <a:p>
            <a:r>
              <a:rPr lang="en-US" dirty="0"/>
              <a:t>Predicting Emergency Readmission of Discharged Heart Failure Patients: A Comparative Analysis of </a:t>
            </a:r>
            <a:r>
              <a:rPr lang="en-US" dirty="0" err="1"/>
              <a:t>XGBoost</a:t>
            </a:r>
            <a:r>
              <a:rPr lang="en-US" dirty="0"/>
              <a:t>, Random Forest, and Logistic Regression</a:t>
            </a:r>
          </a:p>
          <a:p>
            <a:endParaRPr lang="en-US" dirty="0"/>
          </a:p>
        </p:txBody>
      </p:sp>
    </p:spTree>
    <p:extLst>
      <p:ext uri="{BB962C8B-B14F-4D97-AF65-F5344CB8AC3E}">
        <p14:creationId xmlns:p14="http://schemas.microsoft.com/office/powerpoint/2010/main" val="1920887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FB684-E0F8-C1F7-F882-1AB685913FAD}"/>
              </a:ext>
            </a:extLst>
          </p:cNvPr>
          <p:cNvSpPr>
            <a:spLocks noGrp="1"/>
          </p:cNvSpPr>
          <p:nvPr>
            <p:ph type="title"/>
          </p:nvPr>
        </p:nvSpPr>
        <p:spPr/>
        <p:txBody>
          <a:bodyPr/>
          <a:lstStyle/>
          <a:p>
            <a:r>
              <a:rPr lang="en-US" dirty="0"/>
              <a:t>Explanation of the AI concepts used</a:t>
            </a:r>
          </a:p>
        </p:txBody>
      </p:sp>
      <p:sp>
        <p:nvSpPr>
          <p:cNvPr id="3" name="Content Placeholder 2">
            <a:extLst>
              <a:ext uri="{FF2B5EF4-FFF2-40B4-BE49-F238E27FC236}">
                <a16:creationId xmlns:a16="http://schemas.microsoft.com/office/drawing/2014/main" id="{6FA335C9-BA12-8449-1B2C-D0767960BBB8}"/>
              </a:ext>
            </a:extLst>
          </p:cNvPr>
          <p:cNvSpPr>
            <a:spLocks noGrp="1"/>
          </p:cNvSpPr>
          <p:nvPr>
            <p:ph idx="1"/>
          </p:nvPr>
        </p:nvSpPr>
        <p:spPr/>
        <p:txBody>
          <a:bodyPr/>
          <a:lstStyle/>
          <a:p>
            <a:pPr lvl="0"/>
            <a:r>
              <a:rPr lang="en-US" b="1" dirty="0"/>
              <a:t>Logistic Regression</a:t>
            </a:r>
            <a:r>
              <a:rPr lang="en-US" dirty="0"/>
              <a:t>: It is a statistical classification model commonly used in medical research for binary outcomes, provides interpretability and insight into feature importance.</a:t>
            </a:r>
          </a:p>
          <a:p>
            <a:pPr lvl="0"/>
            <a:r>
              <a:rPr lang="en-US" b="1" dirty="0"/>
              <a:t>Random Forest</a:t>
            </a:r>
            <a:r>
              <a:rPr lang="en-US" dirty="0"/>
              <a:t>: It is a ensemble machine learning method. It combines many decision trees to improve the prediction accuracy and reduce overfitting.</a:t>
            </a:r>
          </a:p>
          <a:p>
            <a:pPr lvl="0"/>
            <a:r>
              <a:rPr lang="en-US" b="1" dirty="0" err="1"/>
              <a:t>XGBoost</a:t>
            </a:r>
            <a:r>
              <a:rPr lang="en-US" dirty="0"/>
              <a:t>: It is a powerful gradient boosting algorithm, builds trees sequentially to optimize predictive performance and handle complex nonlinear relationships.</a:t>
            </a:r>
          </a:p>
          <a:p>
            <a:endParaRPr lang="en-US" dirty="0"/>
          </a:p>
        </p:txBody>
      </p:sp>
    </p:spTree>
    <p:extLst>
      <p:ext uri="{BB962C8B-B14F-4D97-AF65-F5344CB8AC3E}">
        <p14:creationId xmlns:p14="http://schemas.microsoft.com/office/powerpoint/2010/main" val="44942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9B2B1-9331-F79C-4385-4FFE1C6B3BE9}"/>
              </a:ext>
            </a:extLst>
          </p:cNvPr>
          <p:cNvSpPr>
            <a:spLocks noGrp="1"/>
          </p:cNvSpPr>
          <p:nvPr>
            <p:ph type="title"/>
          </p:nvPr>
        </p:nvSpPr>
        <p:spPr/>
        <p:txBody>
          <a:bodyPr/>
          <a:lstStyle/>
          <a:p>
            <a:r>
              <a:rPr lang="en-US" dirty="0"/>
              <a:t>Research evidences</a:t>
            </a:r>
          </a:p>
        </p:txBody>
      </p:sp>
      <p:sp>
        <p:nvSpPr>
          <p:cNvPr id="3" name="Content Placeholder 2">
            <a:extLst>
              <a:ext uri="{FF2B5EF4-FFF2-40B4-BE49-F238E27FC236}">
                <a16:creationId xmlns:a16="http://schemas.microsoft.com/office/drawing/2014/main" id="{35859200-00D9-C9AF-200A-144AD62B64D4}"/>
              </a:ext>
            </a:extLst>
          </p:cNvPr>
          <p:cNvSpPr>
            <a:spLocks noGrp="1"/>
          </p:cNvSpPr>
          <p:nvPr>
            <p:ph idx="1"/>
          </p:nvPr>
        </p:nvSpPr>
        <p:spPr/>
        <p:txBody>
          <a:bodyPr>
            <a:normAutofit fontScale="77500" lnSpcReduction="20000"/>
          </a:bodyPr>
          <a:lstStyle/>
          <a:p>
            <a:pPr marL="457200" lvl="0" indent="-457200">
              <a:buFont typeface="+mj-lt"/>
              <a:buAutoNum type="arabicPeriod"/>
            </a:pPr>
            <a:r>
              <a:rPr lang="en-US" dirty="0"/>
              <a:t>(Bobak J. Mortazavi, 2016) compared machine learning algorithms for predicting readmission of heart failure patients and found that Random Forest outperformed logistic regression by capturing complex interactions between patient vitals and lab results.</a:t>
            </a:r>
          </a:p>
          <a:p>
            <a:pPr marL="457200" lvl="0" indent="-457200">
              <a:buFont typeface="+mj-lt"/>
              <a:buAutoNum type="arabicPeriod"/>
            </a:pPr>
            <a:r>
              <a:rPr lang="en-US" dirty="0"/>
              <a:t>(Sara Bersche </a:t>
            </a:r>
            <a:r>
              <a:rPr lang="en-US" dirty="0" err="1"/>
              <a:t>Golas</a:t>
            </a:r>
            <a:r>
              <a:rPr lang="en-US" dirty="0"/>
              <a:t> M, 2018) used </a:t>
            </a:r>
            <a:r>
              <a:rPr lang="en-US" dirty="0" err="1"/>
              <a:t>XGBoost</a:t>
            </a:r>
            <a:r>
              <a:rPr lang="en-US" dirty="0"/>
              <a:t> algorithm to predict 30 day readmissions in heart failure patients, achieving a higher area under the curve (AUC) compared to traditional clinical risk scores, demonstrating the value of gradient boosting in handling missing medical data.</a:t>
            </a:r>
          </a:p>
          <a:p>
            <a:pPr marL="457200" lvl="0" indent="-457200">
              <a:buFont typeface="+mj-lt"/>
              <a:buAutoNum type="arabicPeriod"/>
            </a:pPr>
            <a:r>
              <a:rPr lang="en-US" dirty="0"/>
              <a:t>(Fuhai Li, 2021) developed and validated an </a:t>
            </a:r>
            <a:r>
              <a:rPr lang="en-US" dirty="0" err="1"/>
              <a:t>XGBoost</a:t>
            </a:r>
            <a:r>
              <a:rPr lang="en-US" dirty="0"/>
              <a:t> based prediction model for in hospital deaths among ICU admitted patients suffering from heart failure using the MIMIC-III database, showing superior discrimination and calibration compared with the GWTG-HF risk score and demonstrating the effectiveness of machine learning for risk in critically ill heart failure patients.</a:t>
            </a:r>
          </a:p>
          <a:p>
            <a:pPr marL="457200" lvl="0" indent="-457200">
              <a:buFont typeface="+mj-lt"/>
              <a:buAutoNum type="arabicPeriod"/>
            </a:pPr>
            <a:r>
              <a:rPr lang="en-US" dirty="0"/>
              <a:t>(Samir E </a:t>
            </a:r>
            <a:r>
              <a:rPr lang="en-US" dirty="0" err="1"/>
              <a:t>AbdelRahman</a:t>
            </a:r>
            <a:r>
              <a:rPr lang="en-US" dirty="0"/>
              <a:t>, 2014) analyzed electronic health records for HF patients and concluded that feature selection is critical. Variables like Brain Natriuretic Peptide (BNP) and creatinine levels were identified as top predictors by Random Forest algorithms.</a:t>
            </a:r>
          </a:p>
          <a:p>
            <a:pPr marL="457200" lvl="0" indent="-457200">
              <a:buFont typeface="+mj-lt"/>
              <a:buAutoNum type="arabicPeriod"/>
            </a:pPr>
            <a:r>
              <a:rPr lang="en-US" dirty="0"/>
              <a:t>(</a:t>
            </a:r>
            <a:r>
              <a:rPr lang="en-US" dirty="0" err="1"/>
              <a:t>Cida</a:t>
            </a:r>
            <a:r>
              <a:rPr lang="en-US" dirty="0"/>
              <a:t> Luo, 2022) demonstrated that ensemble techniques like </a:t>
            </a:r>
            <a:r>
              <a:rPr lang="en-US" dirty="0" err="1"/>
              <a:t>XGBoost</a:t>
            </a:r>
            <a:r>
              <a:rPr lang="en-US" dirty="0"/>
              <a:t> could effectively handle class imbalance, a common issue where the number of readmitted patients is significantly smaller than those not readmitted.</a:t>
            </a:r>
          </a:p>
        </p:txBody>
      </p:sp>
    </p:spTree>
    <p:extLst>
      <p:ext uri="{BB962C8B-B14F-4D97-AF65-F5344CB8AC3E}">
        <p14:creationId xmlns:p14="http://schemas.microsoft.com/office/powerpoint/2010/main" val="109907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14C7B-B333-14AE-0546-9064EA9740C6}"/>
              </a:ext>
            </a:extLst>
          </p:cNvPr>
          <p:cNvSpPr>
            <a:spLocks noGrp="1"/>
          </p:cNvSpPr>
          <p:nvPr>
            <p:ph type="title"/>
          </p:nvPr>
        </p:nvSpPr>
        <p:spPr/>
        <p:txBody>
          <a:bodyPr/>
          <a:lstStyle/>
          <a:p>
            <a:r>
              <a:rPr lang="en-US" dirty="0"/>
              <a:t>Reason for selection of the topic</a:t>
            </a:r>
          </a:p>
        </p:txBody>
      </p:sp>
      <p:sp>
        <p:nvSpPr>
          <p:cNvPr id="7" name="Content Placeholder 2">
            <a:extLst>
              <a:ext uri="{FF2B5EF4-FFF2-40B4-BE49-F238E27FC236}">
                <a16:creationId xmlns:a16="http://schemas.microsoft.com/office/drawing/2014/main" id="{0463A577-2B64-9181-234C-60F768D19BC9}"/>
              </a:ext>
            </a:extLst>
          </p:cNvPr>
          <p:cNvSpPr>
            <a:spLocks noGrp="1"/>
          </p:cNvSpPr>
          <p:nvPr>
            <p:ph idx="1"/>
          </p:nvPr>
        </p:nvSpPr>
        <p:spPr/>
        <p:txBody>
          <a:bodyPr>
            <a:normAutofit/>
          </a:bodyPr>
          <a:lstStyle/>
          <a:p>
            <a:pPr marL="457200" indent="-457200">
              <a:buFont typeface="+mj-lt"/>
              <a:buAutoNum type="arabicPeriod"/>
            </a:pPr>
            <a:r>
              <a:rPr lang="en-US" dirty="0"/>
              <a:t>Heart failure has high emergency readmission rates, creating risk for patients and pressure on healthcare systems.</a:t>
            </a:r>
          </a:p>
          <a:p>
            <a:pPr marL="457200" indent="-457200">
              <a:buFont typeface="+mj-lt"/>
              <a:buAutoNum type="arabicPeriod"/>
            </a:pPr>
            <a:r>
              <a:rPr lang="en-US" dirty="0"/>
              <a:t>Early identification of high-risk patients can improve discharge planning and follow-up care.</a:t>
            </a:r>
          </a:p>
          <a:p>
            <a:pPr marL="457200" indent="-457200">
              <a:buFont typeface="+mj-lt"/>
              <a:buAutoNum type="arabicPeriod"/>
            </a:pPr>
            <a:r>
              <a:rPr lang="en-US" dirty="0"/>
              <a:t>Machine learning provides an opportunity to </a:t>
            </a:r>
            <a:r>
              <a:rPr lang="en-US" dirty="0" err="1"/>
              <a:t>analyse</a:t>
            </a:r>
            <a:r>
              <a:rPr lang="en-US" dirty="0"/>
              <a:t> complex clinical data more effectively than traditional rule-based methods.</a:t>
            </a:r>
          </a:p>
          <a:p>
            <a:pPr marL="457200" indent="-457200">
              <a:buFont typeface="+mj-lt"/>
              <a:buAutoNum type="arabicPeriod"/>
            </a:pPr>
            <a:r>
              <a:rPr lang="en-US" dirty="0"/>
              <a:t>The topic aligns with real-world healthcare challenges and demonstrates practical use of AI in medical decision support.</a:t>
            </a:r>
          </a:p>
        </p:txBody>
      </p:sp>
    </p:spTree>
    <p:extLst>
      <p:ext uri="{BB962C8B-B14F-4D97-AF65-F5344CB8AC3E}">
        <p14:creationId xmlns:p14="http://schemas.microsoft.com/office/powerpoint/2010/main" val="2240116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8ECED-8244-67BE-E490-7E17CA0AFB60}"/>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4F65B199-02A5-835B-48B7-843A13B08EE0}"/>
              </a:ext>
            </a:extLst>
          </p:cNvPr>
          <p:cNvSpPr>
            <a:spLocks noGrp="1"/>
          </p:cNvSpPr>
          <p:nvPr>
            <p:ph idx="1"/>
          </p:nvPr>
        </p:nvSpPr>
        <p:spPr/>
        <p:txBody>
          <a:bodyPr>
            <a:normAutofit/>
          </a:bodyPr>
          <a:lstStyle/>
          <a:p>
            <a:pPr marL="457200" indent="-457200">
              <a:buFont typeface="+mj-lt"/>
              <a:buAutoNum type="arabicPeriod"/>
            </a:pPr>
            <a:r>
              <a:rPr lang="en-US" dirty="0"/>
              <a:t>A supervised machine learning–based prediction system was developed.</a:t>
            </a:r>
          </a:p>
          <a:p>
            <a:pPr marL="457200" indent="-457200">
              <a:buFont typeface="+mj-lt"/>
              <a:buAutoNum type="arabicPeriod"/>
            </a:pPr>
            <a:r>
              <a:rPr lang="en-US" dirty="0"/>
              <a:t>Three models were implemented and compared:</a:t>
            </a:r>
          </a:p>
          <a:p>
            <a:pPr marL="630936" lvl="1" indent="-457200">
              <a:buFont typeface="+mj-lt"/>
              <a:buAutoNum type="alphaLcPeriod"/>
            </a:pPr>
            <a:r>
              <a:rPr lang="en-US" dirty="0"/>
              <a:t>Logistic Regression</a:t>
            </a:r>
          </a:p>
          <a:p>
            <a:pPr marL="630936" lvl="1" indent="-457200">
              <a:buFont typeface="+mj-lt"/>
              <a:buAutoNum type="alphaLcPeriod"/>
            </a:pPr>
            <a:r>
              <a:rPr lang="en-US" dirty="0"/>
              <a:t>Random Forest</a:t>
            </a:r>
          </a:p>
          <a:p>
            <a:pPr marL="630936" lvl="1" indent="-457200">
              <a:buFont typeface="+mj-lt"/>
              <a:buAutoNum type="alphaLcPeriod"/>
            </a:pPr>
            <a:r>
              <a:rPr lang="en-US" dirty="0" err="1"/>
              <a:t>XGBoost</a:t>
            </a:r>
            <a:endParaRPr lang="en-US" dirty="0"/>
          </a:p>
          <a:p>
            <a:pPr marL="457200" indent="-457200">
              <a:buFont typeface="+mj-lt"/>
              <a:buAutoNum type="arabicPeriod"/>
            </a:pPr>
            <a:r>
              <a:rPr lang="en-US" dirty="0"/>
              <a:t>The goal was to identify patients likely to return to the emergency department within six months of discharge.</a:t>
            </a:r>
          </a:p>
          <a:p>
            <a:pPr marL="457200" indent="-457200">
              <a:buFont typeface="+mj-lt"/>
              <a:buAutoNum type="arabicPeriod"/>
            </a:pPr>
            <a:r>
              <a:rPr lang="en-US" dirty="0"/>
              <a:t>Model comparison was used to select the most reliable and clinically suitable approach.</a:t>
            </a:r>
          </a:p>
        </p:txBody>
      </p:sp>
    </p:spTree>
    <p:extLst>
      <p:ext uri="{BB962C8B-B14F-4D97-AF65-F5344CB8AC3E}">
        <p14:creationId xmlns:p14="http://schemas.microsoft.com/office/powerpoint/2010/main" val="1335898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7CEE6-2D33-B30B-EC6E-E370E3837CC7}"/>
              </a:ext>
            </a:extLst>
          </p:cNvPr>
          <p:cNvSpPr>
            <a:spLocks noGrp="1"/>
          </p:cNvSpPr>
          <p:nvPr>
            <p:ph type="title"/>
          </p:nvPr>
        </p:nvSpPr>
        <p:spPr/>
        <p:txBody>
          <a:bodyPr>
            <a:normAutofit/>
          </a:bodyPr>
          <a:lstStyle/>
          <a:p>
            <a:r>
              <a:rPr lang="en-US"/>
              <a:t>Explanation of the solution and developed application (how it works)</a:t>
            </a:r>
            <a:endParaRPr lang="en-US" dirty="0"/>
          </a:p>
        </p:txBody>
      </p:sp>
      <p:sp>
        <p:nvSpPr>
          <p:cNvPr id="3" name="Content Placeholder 2">
            <a:extLst>
              <a:ext uri="{FF2B5EF4-FFF2-40B4-BE49-F238E27FC236}">
                <a16:creationId xmlns:a16="http://schemas.microsoft.com/office/drawing/2014/main" id="{AE49F2F1-A827-C235-BC2B-C463783ED13D}"/>
              </a:ext>
            </a:extLst>
          </p:cNvPr>
          <p:cNvSpPr>
            <a:spLocks noGrp="1"/>
          </p:cNvSpPr>
          <p:nvPr>
            <p:ph idx="1"/>
          </p:nvPr>
        </p:nvSpPr>
        <p:spPr/>
        <p:txBody>
          <a:bodyPr>
            <a:normAutofit/>
          </a:bodyPr>
          <a:lstStyle/>
          <a:p>
            <a:pPr marL="457200" indent="-457200">
              <a:buFont typeface="+mj-lt"/>
              <a:buAutoNum type="arabicPeriod"/>
            </a:pPr>
            <a:r>
              <a:rPr lang="en-US" dirty="0"/>
              <a:t>Clinical data is collected from heart failure patient records.</a:t>
            </a:r>
          </a:p>
          <a:p>
            <a:pPr marL="457200" indent="-457200">
              <a:buFont typeface="+mj-lt"/>
              <a:buAutoNum type="arabicPeriod"/>
            </a:pPr>
            <a:r>
              <a:rPr lang="en-US" dirty="0"/>
              <a:t>Data preprocessing includes encoding categorical variables and scaling numerical features.</a:t>
            </a:r>
          </a:p>
          <a:p>
            <a:pPr marL="457200" indent="-457200">
              <a:buFont typeface="+mj-lt"/>
              <a:buAutoNum type="arabicPeriod"/>
            </a:pPr>
            <a:r>
              <a:rPr lang="en-US" dirty="0"/>
              <a:t>The dataset is split into training and testing sets.</a:t>
            </a:r>
          </a:p>
          <a:p>
            <a:pPr marL="457200" indent="-457200">
              <a:buFont typeface="+mj-lt"/>
              <a:buAutoNum type="arabicPeriod"/>
            </a:pPr>
            <a:r>
              <a:rPr lang="en-US" dirty="0"/>
              <a:t>Models are trained using historical outcomes (readmitted or not).</a:t>
            </a:r>
          </a:p>
          <a:p>
            <a:pPr marL="457200" indent="-457200">
              <a:buFont typeface="+mj-lt"/>
              <a:buAutoNum type="arabicPeriod"/>
            </a:pPr>
            <a:r>
              <a:rPr lang="en-US" dirty="0"/>
              <a:t>Each model predicts the probability of emergency readmission.</a:t>
            </a:r>
          </a:p>
          <a:p>
            <a:pPr marL="457200" indent="-457200">
              <a:buFont typeface="+mj-lt"/>
              <a:buAutoNum type="arabicPeriod"/>
            </a:pPr>
            <a:r>
              <a:rPr lang="en-US" dirty="0"/>
              <a:t>Performance is evaluated using recall, accuracy, F1-score, and ROC-AUC.</a:t>
            </a:r>
          </a:p>
          <a:p>
            <a:pPr marL="457200" indent="-457200">
              <a:buFont typeface="+mj-lt"/>
              <a:buAutoNum type="arabicPeriod"/>
            </a:pPr>
            <a:r>
              <a:rPr lang="en-US" dirty="0"/>
              <a:t>The best-performing model is selected for decision support.</a:t>
            </a:r>
          </a:p>
        </p:txBody>
      </p:sp>
    </p:spTree>
    <p:extLst>
      <p:ext uri="{BB962C8B-B14F-4D97-AF65-F5344CB8AC3E}">
        <p14:creationId xmlns:p14="http://schemas.microsoft.com/office/powerpoint/2010/main" val="3577141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7602D-280F-1D7A-AF33-1EBF81769A2A}"/>
              </a:ext>
            </a:extLst>
          </p:cNvPr>
          <p:cNvSpPr>
            <a:spLocks noGrp="1"/>
          </p:cNvSpPr>
          <p:nvPr>
            <p:ph type="title"/>
          </p:nvPr>
        </p:nvSpPr>
        <p:spPr/>
        <p:txBody>
          <a:bodyPr/>
          <a:lstStyle/>
          <a:p>
            <a:r>
              <a:rPr lang="en-US" dirty="0"/>
              <a:t>Achieved results</a:t>
            </a:r>
          </a:p>
        </p:txBody>
      </p:sp>
      <p:sp>
        <p:nvSpPr>
          <p:cNvPr id="13" name="Content Placeholder 12">
            <a:extLst>
              <a:ext uri="{FF2B5EF4-FFF2-40B4-BE49-F238E27FC236}">
                <a16:creationId xmlns:a16="http://schemas.microsoft.com/office/drawing/2014/main" id="{2ACAAF83-DA5C-8544-19CB-57C6D1A58CDD}"/>
              </a:ext>
            </a:extLst>
          </p:cNvPr>
          <p:cNvSpPr>
            <a:spLocks noGrp="1"/>
          </p:cNvSpPr>
          <p:nvPr>
            <p:ph idx="1"/>
          </p:nvPr>
        </p:nvSpPr>
        <p:spPr>
          <a:xfrm>
            <a:off x="1024127" y="2326613"/>
            <a:ext cx="9720073" cy="4023360"/>
          </a:xfrm>
        </p:spPr>
        <p:txBody>
          <a:bodyPr>
            <a:normAutofit/>
          </a:bodyPr>
          <a:lstStyle/>
          <a:p>
            <a:pPr marL="457200" indent="-457200">
              <a:buFont typeface="+mj-lt"/>
              <a:buAutoNum type="arabicPeriod"/>
            </a:pPr>
            <a:r>
              <a:rPr lang="en-US" dirty="0"/>
              <a:t>Logistic Regression achieved the best overall performance on this dataset.</a:t>
            </a:r>
          </a:p>
          <a:p>
            <a:pPr marL="457200" indent="-457200">
              <a:buFont typeface="+mj-lt"/>
              <a:buAutoNum type="arabicPeriod"/>
            </a:pPr>
            <a:r>
              <a:rPr lang="en-US" dirty="0"/>
              <a:t>It showed strong recall and ROC-AUC, which are critical for medical risk prediction.</a:t>
            </a:r>
          </a:p>
          <a:p>
            <a:pPr marL="457200" indent="-457200">
              <a:buFont typeface="+mj-lt"/>
              <a:buAutoNum type="arabicPeriod"/>
            </a:pPr>
            <a:r>
              <a:rPr lang="en-US" dirty="0"/>
              <a:t>Random Forest performed competitively but did not consistently outperform Logistic Regression.</a:t>
            </a:r>
          </a:p>
          <a:p>
            <a:pPr marL="457200" indent="-457200">
              <a:buFont typeface="+mj-lt"/>
              <a:buAutoNum type="arabicPeriod"/>
            </a:pPr>
            <a:r>
              <a:rPr lang="en-US" dirty="0" err="1"/>
              <a:t>XGBoost</a:t>
            </a:r>
            <a:r>
              <a:rPr lang="en-US" dirty="0"/>
              <a:t> did not perform as expected, likely due to dataset size and feature characteristics.</a:t>
            </a:r>
          </a:p>
          <a:p>
            <a:pPr marL="457200" indent="-457200">
              <a:buFont typeface="+mj-lt"/>
              <a:buAutoNum type="arabicPeriod"/>
            </a:pPr>
            <a:r>
              <a:rPr lang="en-US" dirty="0"/>
              <a:t>Results show that simpler models can outperform complex models in structured clinical data.</a:t>
            </a:r>
          </a:p>
        </p:txBody>
      </p:sp>
    </p:spTree>
    <p:extLst>
      <p:ext uri="{BB962C8B-B14F-4D97-AF65-F5344CB8AC3E}">
        <p14:creationId xmlns:p14="http://schemas.microsoft.com/office/powerpoint/2010/main" val="4142636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49CA5-A113-E6CC-584E-A0BD8FDB7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176F7-7764-86BF-52ED-E3871DAC49F1}"/>
              </a:ext>
            </a:extLst>
          </p:cNvPr>
          <p:cNvSpPr>
            <a:spLocks noGrp="1"/>
          </p:cNvSpPr>
          <p:nvPr>
            <p:ph type="title"/>
          </p:nvPr>
        </p:nvSpPr>
        <p:spPr/>
        <p:txBody>
          <a:bodyPr/>
          <a:lstStyle/>
          <a:p>
            <a:r>
              <a:rPr lang="en-US" dirty="0"/>
              <a:t>Achieved results</a:t>
            </a:r>
          </a:p>
        </p:txBody>
      </p:sp>
      <p:pic>
        <p:nvPicPr>
          <p:cNvPr id="5" name="Content Placeholder 4" descr="A screenshot of a test results&#10;&#10;AI-generated content may be incorrect.">
            <a:extLst>
              <a:ext uri="{FF2B5EF4-FFF2-40B4-BE49-F238E27FC236}">
                <a16:creationId xmlns:a16="http://schemas.microsoft.com/office/drawing/2014/main" id="{5B88F81E-773F-B2EA-3733-872B5E7BB40D}"/>
              </a:ext>
            </a:extLst>
          </p:cNvPr>
          <p:cNvPicPr>
            <a:picLocks noGrp="1" noChangeAspect="1"/>
          </p:cNvPicPr>
          <p:nvPr>
            <p:ph idx="1"/>
          </p:nvPr>
        </p:nvPicPr>
        <p:blipFill>
          <a:blip r:embed="rId2"/>
          <a:stretch>
            <a:fillRect/>
          </a:stretch>
        </p:blipFill>
        <p:spPr>
          <a:xfrm>
            <a:off x="161544" y="2247425"/>
            <a:ext cx="3969880" cy="3689565"/>
          </a:xfrm>
        </p:spPr>
      </p:pic>
      <p:pic>
        <p:nvPicPr>
          <p:cNvPr id="7" name="Picture 6" descr="A screenshot of a computer&#10;&#10;AI-generated content may be incorrect.">
            <a:extLst>
              <a:ext uri="{FF2B5EF4-FFF2-40B4-BE49-F238E27FC236}">
                <a16:creationId xmlns:a16="http://schemas.microsoft.com/office/drawing/2014/main" id="{83DB764E-8CB8-1D59-EC3A-E13630AF5586}"/>
              </a:ext>
            </a:extLst>
          </p:cNvPr>
          <p:cNvPicPr>
            <a:picLocks noChangeAspect="1"/>
          </p:cNvPicPr>
          <p:nvPr/>
        </p:nvPicPr>
        <p:blipFill>
          <a:blip r:embed="rId3"/>
          <a:stretch>
            <a:fillRect/>
          </a:stretch>
        </p:blipFill>
        <p:spPr>
          <a:xfrm>
            <a:off x="4180573" y="2247425"/>
            <a:ext cx="3916750" cy="3605190"/>
          </a:xfrm>
          <a:prstGeom prst="rect">
            <a:avLst/>
          </a:prstGeom>
        </p:spPr>
      </p:pic>
      <p:pic>
        <p:nvPicPr>
          <p:cNvPr id="9" name="Picture 8" descr="A screenshot of a test&#10;&#10;AI-generated content may be incorrect.">
            <a:extLst>
              <a:ext uri="{FF2B5EF4-FFF2-40B4-BE49-F238E27FC236}">
                <a16:creationId xmlns:a16="http://schemas.microsoft.com/office/drawing/2014/main" id="{90DC3247-2EB2-258C-D64B-CCC1FBE6ABFD}"/>
              </a:ext>
            </a:extLst>
          </p:cNvPr>
          <p:cNvPicPr>
            <a:picLocks noChangeAspect="1"/>
          </p:cNvPicPr>
          <p:nvPr/>
        </p:nvPicPr>
        <p:blipFill>
          <a:blip r:embed="rId4"/>
          <a:stretch>
            <a:fillRect/>
          </a:stretch>
        </p:blipFill>
        <p:spPr>
          <a:xfrm>
            <a:off x="8146472" y="2246169"/>
            <a:ext cx="3916750" cy="3601609"/>
          </a:xfrm>
          <a:prstGeom prst="rect">
            <a:avLst/>
          </a:prstGeom>
        </p:spPr>
      </p:pic>
    </p:spTree>
    <p:extLst>
      <p:ext uri="{BB962C8B-B14F-4D97-AF65-F5344CB8AC3E}">
        <p14:creationId xmlns:p14="http://schemas.microsoft.com/office/powerpoint/2010/main" val="1730704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3E640AD8-F9F2-DDDB-B636-E47117842AD4}"/>
              </a:ext>
            </a:extLst>
          </p:cNvPr>
          <p:cNvPicPr>
            <a:picLocks noChangeAspect="1"/>
          </p:cNvPicPr>
          <p:nvPr/>
        </p:nvPicPr>
        <p:blipFill>
          <a:blip r:embed="rId2"/>
          <a:stretch>
            <a:fillRect/>
          </a:stretch>
        </p:blipFill>
        <p:spPr>
          <a:xfrm>
            <a:off x="2209800" y="236563"/>
            <a:ext cx="7772400" cy="6384874"/>
          </a:xfrm>
          <a:prstGeom prst="rect">
            <a:avLst/>
          </a:prstGeom>
        </p:spPr>
      </p:pic>
    </p:spTree>
    <p:extLst>
      <p:ext uri="{BB962C8B-B14F-4D97-AF65-F5344CB8AC3E}">
        <p14:creationId xmlns:p14="http://schemas.microsoft.com/office/powerpoint/2010/main" val="2177772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9049E-1C00-6EF7-FC1E-20E629E020E5}"/>
              </a:ext>
            </a:extLst>
          </p:cNvPr>
          <p:cNvSpPr>
            <a:spLocks noGrp="1"/>
          </p:cNvSpPr>
          <p:nvPr>
            <p:ph type="title"/>
          </p:nvPr>
        </p:nvSpPr>
        <p:spPr/>
        <p:txBody>
          <a:bodyPr/>
          <a:lstStyle/>
          <a:p>
            <a:r>
              <a:rPr lang="en-US" dirty="0"/>
              <a:t>How it solves real world problems?</a:t>
            </a:r>
          </a:p>
        </p:txBody>
      </p:sp>
      <p:sp>
        <p:nvSpPr>
          <p:cNvPr id="3" name="Content Placeholder 2">
            <a:extLst>
              <a:ext uri="{FF2B5EF4-FFF2-40B4-BE49-F238E27FC236}">
                <a16:creationId xmlns:a16="http://schemas.microsoft.com/office/drawing/2014/main" id="{E405EEE1-F4D7-4A2D-B8FC-748F2893C8DE}"/>
              </a:ext>
            </a:extLst>
          </p:cNvPr>
          <p:cNvSpPr>
            <a:spLocks noGrp="1"/>
          </p:cNvSpPr>
          <p:nvPr>
            <p:ph idx="1"/>
          </p:nvPr>
        </p:nvSpPr>
        <p:spPr/>
        <p:txBody>
          <a:bodyPr>
            <a:normAutofit/>
          </a:bodyPr>
          <a:lstStyle/>
          <a:p>
            <a:pPr marL="457200" indent="-457200">
              <a:buFont typeface="+mj-lt"/>
              <a:buAutoNum type="arabicPeriod"/>
            </a:pPr>
            <a:r>
              <a:rPr lang="en-US" dirty="0"/>
              <a:t>Helps identify high-risk heart failure patients before discharge.</a:t>
            </a:r>
          </a:p>
          <a:p>
            <a:pPr marL="457200" indent="-457200">
              <a:buFont typeface="+mj-lt"/>
              <a:buAutoNum type="arabicPeriod"/>
            </a:pPr>
            <a:r>
              <a:rPr lang="en-US" dirty="0"/>
              <a:t>Supports clinicians in making informed follow-up and monitoring decisions.</a:t>
            </a:r>
          </a:p>
          <a:p>
            <a:pPr marL="457200" indent="-457200">
              <a:buFont typeface="+mj-lt"/>
              <a:buAutoNum type="arabicPeriod"/>
            </a:pPr>
            <a:r>
              <a:rPr lang="en-US" dirty="0"/>
              <a:t>Reduces avoidable emergency readmissions.</a:t>
            </a:r>
          </a:p>
          <a:p>
            <a:pPr marL="457200" indent="-457200">
              <a:buFont typeface="+mj-lt"/>
              <a:buAutoNum type="arabicPeriod"/>
            </a:pPr>
            <a:r>
              <a:rPr lang="en-US" dirty="0"/>
              <a:t>Improves patient safety and healthcare resource planning.</a:t>
            </a:r>
          </a:p>
          <a:p>
            <a:pPr marL="457200" indent="-457200">
              <a:buFont typeface="+mj-lt"/>
              <a:buAutoNum type="arabicPeriod"/>
            </a:pPr>
            <a:r>
              <a:rPr lang="en-US" dirty="0"/>
              <a:t>Provides interpretable predictions that clinicians can trust.</a:t>
            </a:r>
          </a:p>
        </p:txBody>
      </p:sp>
    </p:spTree>
    <p:extLst>
      <p:ext uri="{BB962C8B-B14F-4D97-AF65-F5344CB8AC3E}">
        <p14:creationId xmlns:p14="http://schemas.microsoft.com/office/powerpoint/2010/main" val="1164969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62AD6-725A-F360-80E1-A5B7CEACC211}"/>
              </a:ext>
            </a:extLst>
          </p:cNvPr>
          <p:cNvSpPr>
            <a:spLocks noGrp="1"/>
          </p:cNvSpPr>
          <p:nvPr>
            <p:ph type="title"/>
          </p:nvPr>
        </p:nvSpPr>
        <p:spPr/>
        <p:txBody>
          <a:bodyPr/>
          <a:lstStyle/>
          <a:p>
            <a:r>
              <a:rPr lang="en-US" dirty="0"/>
              <a:t>Synthesis of information</a:t>
            </a:r>
          </a:p>
        </p:txBody>
      </p:sp>
      <p:sp>
        <p:nvSpPr>
          <p:cNvPr id="3" name="Content Placeholder 2">
            <a:extLst>
              <a:ext uri="{FF2B5EF4-FFF2-40B4-BE49-F238E27FC236}">
                <a16:creationId xmlns:a16="http://schemas.microsoft.com/office/drawing/2014/main" id="{9096BBE9-4968-B560-9569-36A2DFBF57BF}"/>
              </a:ext>
            </a:extLst>
          </p:cNvPr>
          <p:cNvSpPr>
            <a:spLocks noGrp="1"/>
          </p:cNvSpPr>
          <p:nvPr>
            <p:ph idx="1"/>
          </p:nvPr>
        </p:nvSpPr>
        <p:spPr/>
        <p:txBody>
          <a:bodyPr>
            <a:normAutofit/>
          </a:bodyPr>
          <a:lstStyle/>
          <a:p>
            <a:pPr marL="457200" indent="-457200">
              <a:buFont typeface="+mj-lt"/>
              <a:buAutoNum type="arabicPeriod"/>
            </a:pPr>
            <a:r>
              <a:rPr lang="en-US" dirty="0"/>
              <a:t>Research literature suggests ensemble models often outperform linear models.</a:t>
            </a:r>
          </a:p>
          <a:p>
            <a:pPr marL="457200" indent="-457200">
              <a:buFont typeface="+mj-lt"/>
              <a:buAutoNum type="arabicPeriod"/>
            </a:pPr>
            <a:r>
              <a:rPr lang="en-US" dirty="0"/>
              <a:t>However, experimental results show Logistic Regression performed best in this context.</a:t>
            </a:r>
          </a:p>
          <a:p>
            <a:pPr marL="457200" indent="-457200">
              <a:buFont typeface="+mj-lt"/>
              <a:buAutoNum type="arabicPeriod"/>
            </a:pPr>
            <a:r>
              <a:rPr lang="en-US" dirty="0"/>
              <a:t>This highlights the importance of matching model complexity to dataset characteristics.</a:t>
            </a:r>
          </a:p>
          <a:p>
            <a:pPr marL="457200" indent="-457200">
              <a:buFont typeface="+mj-lt"/>
              <a:buAutoNum type="arabicPeriod"/>
            </a:pPr>
            <a:r>
              <a:rPr lang="en-US" dirty="0"/>
              <a:t>The study demonstrates critical evaluation rather than blind reliance on advanced algorithms.</a:t>
            </a:r>
          </a:p>
          <a:p>
            <a:endParaRPr lang="en-US" dirty="0"/>
          </a:p>
        </p:txBody>
      </p:sp>
    </p:spTree>
    <p:extLst>
      <p:ext uri="{BB962C8B-B14F-4D97-AF65-F5344CB8AC3E}">
        <p14:creationId xmlns:p14="http://schemas.microsoft.com/office/powerpoint/2010/main" val="2658148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paper with black text&#10;&#10;AI-generated content may be incorrect.">
            <a:extLst>
              <a:ext uri="{FF2B5EF4-FFF2-40B4-BE49-F238E27FC236}">
                <a16:creationId xmlns:a16="http://schemas.microsoft.com/office/drawing/2014/main" id="{A5A5BC67-6B8E-BA72-347D-06D595EB9D36}"/>
              </a:ext>
            </a:extLst>
          </p:cNvPr>
          <p:cNvPicPr>
            <a:picLocks noChangeAspect="1"/>
          </p:cNvPicPr>
          <p:nvPr/>
        </p:nvPicPr>
        <p:blipFill>
          <a:blip r:embed="rId2"/>
          <a:stretch>
            <a:fillRect/>
          </a:stretch>
        </p:blipFill>
        <p:spPr>
          <a:xfrm>
            <a:off x="656217" y="0"/>
            <a:ext cx="4199950" cy="6858000"/>
          </a:xfrm>
          <a:prstGeom prst="rect">
            <a:avLst/>
          </a:prstGeom>
        </p:spPr>
      </p:pic>
      <p:pic>
        <p:nvPicPr>
          <p:cNvPr id="5" name="Picture 4" descr="A white background with black text&#10;&#10;AI-generated content may be incorrect.">
            <a:extLst>
              <a:ext uri="{FF2B5EF4-FFF2-40B4-BE49-F238E27FC236}">
                <a16:creationId xmlns:a16="http://schemas.microsoft.com/office/drawing/2014/main" id="{44F1530B-F8F4-8A68-E87F-E48A421B8664}"/>
              </a:ext>
            </a:extLst>
          </p:cNvPr>
          <p:cNvPicPr>
            <a:picLocks noChangeAspect="1"/>
          </p:cNvPicPr>
          <p:nvPr/>
        </p:nvPicPr>
        <p:blipFill>
          <a:blip r:embed="rId3"/>
          <a:stretch>
            <a:fillRect/>
          </a:stretch>
        </p:blipFill>
        <p:spPr>
          <a:xfrm>
            <a:off x="5645374" y="1694330"/>
            <a:ext cx="4064000" cy="2286000"/>
          </a:xfrm>
          <a:prstGeom prst="rect">
            <a:avLst/>
          </a:prstGeom>
        </p:spPr>
      </p:pic>
      <p:sp>
        <p:nvSpPr>
          <p:cNvPr id="6" name="TextBox 5">
            <a:extLst>
              <a:ext uri="{FF2B5EF4-FFF2-40B4-BE49-F238E27FC236}">
                <a16:creationId xmlns:a16="http://schemas.microsoft.com/office/drawing/2014/main" id="{29A0368D-760D-3989-A5DF-BA8543C8DAEA}"/>
              </a:ext>
            </a:extLst>
          </p:cNvPr>
          <p:cNvSpPr txBox="1"/>
          <p:nvPr/>
        </p:nvSpPr>
        <p:spPr>
          <a:xfrm>
            <a:off x="6096000" y="605642"/>
            <a:ext cx="2756076" cy="369332"/>
          </a:xfrm>
          <a:prstGeom prst="rect">
            <a:avLst/>
          </a:prstGeom>
          <a:noFill/>
        </p:spPr>
        <p:txBody>
          <a:bodyPr wrap="none" rtlCol="0">
            <a:spAutoFit/>
          </a:bodyPr>
          <a:lstStyle/>
          <a:p>
            <a:r>
              <a:rPr lang="en-US" dirty="0"/>
              <a:t>Pseudo code for the solution</a:t>
            </a:r>
          </a:p>
        </p:txBody>
      </p:sp>
    </p:spTree>
    <p:extLst>
      <p:ext uri="{BB962C8B-B14F-4D97-AF65-F5344CB8AC3E}">
        <p14:creationId xmlns:p14="http://schemas.microsoft.com/office/powerpoint/2010/main" val="2657064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program&#10;&#10;AI-generated content may be incorrect.">
            <a:extLst>
              <a:ext uri="{FF2B5EF4-FFF2-40B4-BE49-F238E27FC236}">
                <a16:creationId xmlns:a16="http://schemas.microsoft.com/office/drawing/2014/main" id="{2BDE02ED-E48B-C9EB-6AA9-A34DABDED3EF}"/>
              </a:ext>
            </a:extLst>
          </p:cNvPr>
          <p:cNvPicPr>
            <a:picLocks noChangeAspect="1"/>
          </p:cNvPicPr>
          <p:nvPr/>
        </p:nvPicPr>
        <p:blipFill>
          <a:blip r:embed="rId2"/>
          <a:stretch>
            <a:fillRect/>
          </a:stretch>
        </p:blipFill>
        <p:spPr>
          <a:xfrm>
            <a:off x="0" y="0"/>
            <a:ext cx="4413455" cy="6858000"/>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5BB632EE-28E2-2F9C-5312-F9DBB0CD2BCA}"/>
              </a:ext>
            </a:extLst>
          </p:cNvPr>
          <p:cNvPicPr>
            <a:picLocks noChangeAspect="1"/>
          </p:cNvPicPr>
          <p:nvPr/>
        </p:nvPicPr>
        <p:blipFill>
          <a:blip r:embed="rId3"/>
          <a:stretch>
            <a:fillRect/>
          </a:stretch>
        </p:blipFill>
        <p:spPr>
          <a:xfrm>
            <a:off x="5213574" y="82550"/>
            <a:ext cx="4927600" cy="6692900"/>
          </a:xfrm>
          <a:prstGeom prst="rect">
            <a:avLst/>
          </a:prstGeom>
        </p:spPr>
      </p:pic>
    </p:spTree>
    <p:extLst>
      <p:ext uri="{BB962C8B-B14F-4D97-AF65-F5344CB8AC3E}">
        <p14:creationId xmlns:p14="http://schemas.microsoft.com/office/powerpoint/2010/main" val="3951829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sheet of paper with black text&#10;&#10;AI-generated content may be incorrect.">
            <a:extLst>
              <a:ext uri="{FF2B5EF4-FFF2-40B4-BE49-F238E27FC236}">
                <a16:creationId xmlns:a16="http://schemas.microsoft.com/office/drawing/2014/main" id="{CE6F33F4-3BB8-62ED-F358-B0753C9677BC}"/>
              </a:ext>
            </a:extLst>
          </p:cNvPr>
          <p:cNvPicPr>
            <a:picLocks noChangeAspect="1"/>
          </p:cNvPicPr>
          <p:nvPr/>
        </p:nvPicPr>
        <p:blipFill>
          <a:blip r:embed="rId2"/>
          <a:stretch>
            <a:fillRect/>
          </a:stretch>
        </p:blipFill>
        <p:spPr>
          <a:xfrm>
            <a:off x="0" y="0"/>
            <a:ext cx="3712029" cy="6858000"/>
          </a:xfrm>
          <a:prstGeom prst="rect">
            <a:avLst/>
          </a:prstGeom>
        </p:spPr>
      </p:pic>
      <p:pic>
        <p:nvPicPr>
          <p:cNvPr id="5" name="Picture 4" descr="A white sheet of paper with black text&#10;&#10;AI-generated content may be incorrect.">
            <a:extLst>
              <a:ext uri="{FF2B5EF4-FFF2-40B4-BE49-F238E27FC236}">
                <a16:creationId xmlns:a16="http://schemas.microsoft.com/office/drawing/2014/main" id="{AB40D0E1-10A4-6177-17D5-463190816566}"/>
              </a:ext>
            </a:extLst>
          </p:cNvPr>
          <p:cNvPicPr>
            <a:picLocks noChangeAspect="1"/>
          </p:cNvPicPr>
          <p:nvPr/>
        </p:nvPicPr>
        <p:blipFill>
          <a:blip r:embed="rId3"/>
          <a:stretch>
            <a:fillRect/>
          </a:stretch>
        </p:blipFill>
        <p:spPr>
          <a:xfrm>
            <a:off x="3712029" y="0"/>
            <a:ext cx="4221892" cy="6858000"/>
          </a:xfrm>
          <a:prstGeom prst="rect">
            <a:avLst/>
          </a:prstGeom>
        </p:spPr>
      </p:pic>
      <p:pic>
        <p:nvPicPr>
          <p:cNvPr id="7" name="Picture 6" descr="A white sheet of paper with black text&#10;&#10;AI-generated content may be incorrect.">
            <a:extLst>
              <a:ext uri="{FF2B5EF4-FFF2-40B4-BE49-F238E27FC236}">
                <a16:creationId xmlns:a16="http://schemas.microsoft.com/office/drawing/2014/main" id="{C46181E5-73FC-AF88-636A-071C54768991}"/>
              </a:ext>
            </a:extLst>
          </p:cNvPr>
          <p:cNvPicPr>
            <a:picLocks noChangeAspect="1"/>
          </p:cNvPicPr>
          <p:nvPr/>
        </p:nvPicPr>
        <p:blipFill>
          <a:blip r:embed="rId4"/>
          <a:stretch>
            <a:fillRect/>
          </a:stretch>
        </p:blipFill>
        <p:spPr>
          <a:xfrm>
            <a:off x="7933921" y="0"/>
            <a:ext cx="4066052" cy="6858000"/>
          </a:xfrm>
          <a:prstGeom prst="rect">
            <a:avLst/>
          </a:prstGeom>
        </p:spPr>
      </p:pic>
    </p:spTree>
    <p:extLst>
      <p:ext uri="{BB962C8B-B14F-4D97-AF65-F5344CB8AC3E}">
        <p14:creationId xmlns:p14="http://schemas.microsoft.com/office/powerpoint/2010/main" val="3604218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4B6D907-2E03-C7FB-984A-197DFCE182B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63992" y="0"/>
            <a:ext cx="2432008" cy="6858000"/>
          </a:xfrm>
          <a:prstGeom prst="rect">
            <a:avLst/>
          </a:prstGeom>
        </p:spPr>
      </p:pic>
      <p:pic>
        <p:nvPicPr>
          <p:cNvPr id="3" name="Graphic 2">
            <a:extLst>
              <a:ext uri="{FF2B5EF4-FFF2-40B4-BE49-F238E27FC236}">
                <a16:creationId xmlns:a16="http://schemas.microsoft.com/office/drawing/2014/main" id="{362EB5F7-D432-8894-10BE-4EA0A641358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92981" y="0"/>
            <a:ext cx="2437423" cy="6858000"/>
          </a:xfrm>
          <a:prstGeom prst="rect">
            <a:avLst/>
          </a:prstGeom>
        </p:spPr>
      </p:pic>
      <p:pic>
        <p:nvPicPr>
          <p:cNvPr id="4" name="Graphic 3">
            <a:extLst>
              <a:ext uri="{FF2B5EF4-FFF2-40B4-BE49-F238E27FC236}">
                <a16:creationId xmlns:a16="http://schemas.microsoft.com/office/drawing/2014/main" id="{D3D9A7AB-3E0D-3205-7CBD-A3F881497B5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04739" y="0"/>
            <a:ext cx="1879503" cy="6858000"/>
          </a:xfrm>
          <a:prstGeom prst="rect">
            <a:avLst/>
          </a:prstGeom>
        </p:spPr>
      </p:pic>
      <p:pic>
        <p:nvPicPr>
          <p:cNvPr id="5" name="Graphic 4">
            <a:extLst>
              <a:ext uri="{FF2B5EF4-FFF2-40B4-BE49-F238E27FC236}">
                <a16:creationId xmlns:a16="http://schemas.microsoft.com/office/drawing/2014/main" id="{014BDD53-169B-6C00-CA44-DC92B71E14C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1088" y="0"/>
            <a:ext cx="2604587" cy="6858000"/>
          </a:xfrm>
          <a:prstGeom prst="rect">
            <a:avLst/>
          </a:prstGeom>
        </p:spPr>
      </p:pic>
    </p:spTree>
    <p:extLst>
      <p:ext uri="{BB962C8B-B14F-4D97-AF65-F5344CB8AC3E}">
        <p14:creationId xmlns:p14="http://schemas.microsoft.com/office/powerpoint/2010/main" val="2081337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43028-5552-8EE2-394B-50DFEBFDDE8E}"/>
              </a:ext>
            </a:extLst>
          </p:cNvPr>
          <p:cNvSpPr>
            <a:spLocks noGrp="1"/>
          </p:cNvSpPr>
          <p:nvPr>
            <p:ph type="ctrTitle"/>
          </p:nvPr>
        </p:nvSpPr>
        <p:spPr/>
        <p:txBody>
          <a:bodyPr/>
          <a:lstStyle/>
          <a:p>
            <a:r>
              <a:rPr lang="en-US" dirty="0"/>
              <a:t>END</a:t>
            </a:r>
          </a:p>
        </p:txBody>
      </p:sp>
      <p:sp>
        <p:nvSpPr>
          <p:cNvPr id="3" name="Subtitle 2">
            <a:extLst>
              <a:ext uri="{FF2B5EF4-FFF2-40B4-BE49-F238E27FC236}">
                <a16:creationId xmlns:a16="http://schemas.microsoft.com/office/drawing/2014/main" id="{1CD60488-9277-868C-3287-2837DDD301DF}"/>
              </a:ext>
            </a:extLst>
          </p:cNvPr>
          <p:cNvSpPr>
            <a:spLocks noGrp="1"/>
          </p:cNvSpPr>
          <p:nvPr>
            <p:ph type="subTitle" idx="1"/>
          </p:nvPr>
        </p:nvSpPr>
        <p:spPr/>
        <p:txBody>
          <a:bodyPr/>
          <a:lstStyle/>
          <a:p>
            <a:r>
              <a:rPr lang="en-US" dirty="0"/>
              <a:t>23050386 </a:t>
            </a:r>
          </a:p>
          <a:p>
            <a:r>
              <a:rPr lang="en-US" dirty="0"/>
              <a:t>NP01CP4A230194</a:t>
            </a:r>
          </a:p>
          <a:p>
            <a:r>
              <a:rPr lang="en-US" dirty="0"/>
              <a:t>C8</a:t>
            </a:r>
          </a:p>
          <a:p>
            <a:r>
              <a:rPr lang="en-US" dirty="0"/>
              <a:t>Prashanna Sthapit</a:t>
            </a:r>
          </a:p>
        </p:txBody>
      </p:sp>
    </p:spTree>
    <p:extLst>
      <p:ext uri="{BB962C8B-B14F-4D97-AF65-F5344CB8AC3E}">
        <p14:creationId xmlns:p14="http://schemas.microsoft.com/office/powerpoint/2010/main" val="15988056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2989</TotalTime>
  <Words>731</Words>
  <Application>Microsoft Macintosh PowerPoint</Application>
  <PresentationFormat>Widescreen</PresentationFormat>
  <Paragraphs>62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Tw Cen MT</vt:lpstr>
      <vt:lpstr>Tw Cen MT Condensed</vt:lpstr>
      <vt:lpstr>Wingdings 3</vt:lpstr>
      <vt:lpstr>Integral</vt:lpstr>
      <vt:lpstr>AI Coursework 2</vt:lpstr>
      <vt:lpstr>Topic</vt:lpstr>
      <vt:lpstr>Explanation of the AI concepts used</vt:lpstr>
      <vt:lpstr>Research evidences</vt:lpstr>
      <vt:lpstr>Reason for selection of the topic</vt:lpstr>
      <vt:lpstr>Solution</vt:lpstr>
      <vt:lpstr>Explanation of the solution and developed application (how it works)</vt:lpstr>
      <vt:lpstr>Achieved results</vt:lpstr>
      <vt:lpstr>Achieved results</vt:lpstr>
      <vt:lpstr>PowerPoint Presentation</vt:lpstr>
      <vt:lpstr>How it solves real world problems?</vt:lpstr>
      <vt:lpstr>Synthesis of information</vt:lpstr>
      <vt:lpstr>PowerPoint Presentation</vt:lpstr>
      <vt:lpstr>PowerPoint Presentation</vt:lpstr>
      <vt:lpstr>PowerPoint Presentation</vt:lpstr>
      <vt:lpstr>PowerPoint Presentation</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Prashanna Sthapit</dc:creator>
  <cp:lastModifiedBy>Prashanna Sthapit</cp:lastModifiedBy>
  <cp:revision>3</cp:revision>
  <dcterms:created xsi:type="dcterms:W3CDTF">2026-01-18T03:07:08Z</dcterms:created>
  <dcterms:modified xsi:type="dcterms:W3CDTF">2026-01-20T04:56:52Z</dcterms:modified>
</cp:coreProperties>
</file>